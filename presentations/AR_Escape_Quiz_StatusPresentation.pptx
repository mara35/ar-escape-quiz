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74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6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416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52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283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45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91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1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14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574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83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402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87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ürfel und Stifte bei einem Brettspiel">
            <a:extLst>
              <a:ext uri="{FF2B5EF4-FFF2-40B4-BE49-F238E27FC236}">
                <a16:creationId xmlns:a16="http://schemas.microsoft.com/office/drawing/2014/main" id="{4E868A60-3800-4F7E-739E-6E2B1F5AE4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14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9F68F1-EF71-52FD-94E0-8DE4E9698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r>
              <a:rPr lang="de-AT" dirty="0"/>
              <a:t>AR Escape Game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4036F50-9035-83E6-CE75-3F0DB2D52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273" y="4300631"/>
            <a:ext cx="4358208" cy="933760"/>
          </a:xfrm>
        </p:spPr>
        <p:txBody>
          <a:bodyPr>
            <a:normAutofit/>
          </a:bodyPr>
          <a:lstStyle/>
          <a:p>
            <a:r>
              <a:rPr lang="de-AT" dirty="0"/>
              <a:t>Melvin Klang, Sebastian Pareiss &amp; Mara Sandner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67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A2D3C68-9C6E-DBFB-130B-3AAE4479087A}"/>
              </a:ext>
            </a:extLst>
          </p:cNvPr>
          <p:cNvGrpSpPr/>
          <p:nvPr/>
        </p:nvGrpSpPr>
        <p:grpSpPr>
          <a:xfrm>
            <a:off x="7180091" y="786718"/>
            <a:ext cx="2914754" cy="5562860"/>
            <a:chOff x="6347493" y="896048"/>
            <a:chExt cx="2914754" cy="5562860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3B5CE7EF-A3FB-2F6E-AF5B-7FA0913C5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47493" y="896048"/>
              <a:ext cx="2914754" cy="5562860"/>
            </a:xfrm>
            <a:prstGeom prst="rect">
              <a:avLst/>
            </a:prstGeom>
          </p:spPr>
        </p:pic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F3A868E7-DF32-0B9B-56B8-15EF14FCBEA7}"/>
                </a:ext>
              </a:extLst>
            </p:cNvPr>
            <p:cNvSpPr/>
            <p:nvPr/>
          </p:nvSpPr>
          <p:spPr>
            <a:xfrm>
              <a:off x="6649278" y="1267239"/>
              <a:ext cx="2355574" cy="482047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</p:grpSp>
      <p:pic>
        <p:nvPicPr>
          <p:cNvPr id="4" name="AR_APP_0512">
            <a:hlinkClick r:id="" action="ppaction://media"/>
            <a:extLst>
              <a:ext uri="{FF2B5EF4-FFF2-40B4-BE49-F238E27FC236}">
                <a16:creationId xmlns:a16="http://schemas.microsoft.com/office/drawing/2014/main" id="{8038C058-242F-8093-14E8-EFB68F3839C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512432" y="1262271"/>
            <a:ext cx="2294461" cy="4716116"/>
          </a:xfrm>
          <a:prstGeom prst="roundRect">
            <a:avLst>
              <a:gd name="adj" fmla="val 2805"/>
            </a:avLst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22DC49A-3EA4-231E-0122-471C47D3D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1157909"/>
            <a:ext cx="3872286" cy="1097280"/>
          </a:xfrm>
        </p:spPr>
        <p:txBody>
          <a:bodyPr>
            <a:normAutofit fontScale="90000"/>
          </a:bodyPr>
          <a:lstStyle/>
          <a:p>
            <a:r>
              <a:rPr lang="de-AT" sz="4400" dirty="0" err="1">
                <a:latin typeface="Univers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Current</a:t>
            </a:r>
            <a:r>
              <a:rPr lang="de-AT" sz="4400" dirty="0">
                <a:latin typeface="Univers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Status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3001D9B-52D9-DF27-F36E-89526A1E855D}"/>
              </a:ext>
            </a:extLst>
          </p:cNvPr>
          <p:cNvSpPr txBox="1"/>
          <p:nvPr/>
        </p:nvSpPr>
        <p:spPr>
          <a:xfrm>
            <a:off x="711200" y="2035343"/>
            <a:ext cx="5740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latin typeface="Univers" panose="020B0503020202020204" pitchFamily="34" charset="0"/>
              </a:rPr>
              <a:t>AR Image Matching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latin typeface="Univers" panose="020B0503020202020204" pitchFamily="34" charset="0"/>
              </a:rPr>
              <a:t>Door spawns when image is detected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noProof="0" dirty="0">
              <a:latin typeface="Univers" panose="020B05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latin typeface="Univers" panose="020B0503020202020204" pitchFamily="34" charset="0"/>
              </a:rPr>
              <a:t>Door opens/closes when tapped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Univers" panose="020B0503020202020204" pitchFamily="34" charset="0"/>
              </a:rPr>
              <a:t>Sound effects</a:t>
            </a:r>
            <a:endParaRPr lang="en-US" sz="2000" noProof="0" dirty="0">
              <a:latin typeface="Univers" panose="020B0503020202020204" pitchFamily="34" charset="0"/>
            </a:endParaRPr>
          </a:p>
        </p:txBody>
      </p:sp>
      <p:pic>
        <p:nvPicPr>
          <p:cNvPr id="14" name="Grafik 13" descr="Ein Bild, das Türgriff, Tür, Metallwaren, Griff enthält.&#10;&#10;KI-generierte Inhalte können fehlerhaft sein.">
            <a:extLst>
              <a:ext uri="{FF2B5EF4-FFF2-40B4-BE49-F238E27FC236}">
                <a16:creationId xmlns:a16="http://schemas.microsoft.com/office/drawing/2014/main" id="{22B7066A-5176-9A0D-CD5A-E03EE8BAED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594" y="4007049"/>
            <a:ext cx="3546943" cy="234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57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5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2A5389-97FE-5096-5999-A5067C40B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>
                <a:latin typeface="Univers" panose="020B0503020202020204" pitchFamily="34" charset="0"/>
              </a:rPr>
              <a:t>Next </a:t>
            </a:r>
            <a:r>
              <a:rPr lang="de-AT" dirty="0" err="1">
                <a:latin typeface="Univers" panose="020B0503020202020204" pitchFamily="34" charset="0"/>
              </a:rPr>
              <a:t>Steps</a:t>
            </a:r>
            <a:r>
              <a:rPr lang="de-AT" dirty="0">
                <a:latin typeface="Univers" panose="020B0503020202020204" pitchFamily="34" charset="0"/>
              </a:rPr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69AD7B-F6A8-80E1-EE7C-EEC9B5427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935772" cy="356616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Univers" panose="020B0503020202020204" pitchFamily="34" charset="0"/>
              </a:rPr>
              <a:t>Add a Start Screen behind the open door </a:t>
            </a:r>
          </a:p>
          <a:p>
            <a:endParaRPr lang="en-US" dirty="0">
              <a:latin typeface="Univers" panose="020B0503020202020204" pitchFamily="34" charset="0"/>
            </a:endParaRPr>
          </a:p>
          <a:p>
            <a:r>
              <a:rPr lang="en-US" dirty="0">
                <a:latin typeface="Univers" panose="020B0503020202020204" pitchFamily="34" charset="0"/>
              </a:rPr>
              <a:t>Implement multiple images for image tracking </a:t>
            </a:r>
            <a:r>
              <a:rPr lang="en-US" dirty="0">
                <a:latin typeface="Univers" panose="020B0503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Univers" panose="020B0503020202020204" pitchFamily="34" charset="0"/>
              </a:rPr>
              <a:t> each triggering next quiz </a:t>
            </a:r>
          </a:p>
          <a:p>
            <a:endParaRPr lang="en-US" dirty="0">
              <a:latin typeface="Univers" panose="020B0503020202020204" pitchFamily="34" charset="0"/>
            </a:endParaRPr>
          </a:p>
          <a:p>
            <a:r>
              <a:rPr lang="en-US" dirty="0">
                <a:latin typeface="Univers" panose="020B0503020202020204" pitchFamily="34" charset="0"/>
              </a:rPr>
              <a:t>Design a quiz or challenge for every image to guide players through the experience</a:t>
            </a:r>
            <a:endParaRPr lang="de-AT" dirty="0">
              <a:latin typeface="Univers" panose="020B0503020202020204" pitchFamily="34" charset="0"/>
            </a:endParaRPr>
          </a:p>
          <a:p>
            <a:endParaRPr lang="de-AT" dirty="0"/>
          </a:p>
        </p:txBody>
      </p:sp>
      <p:pic>
        <p:nvPicPr>
          <p:cNvPr id="6" name="Picture 5" descr="Grundriss für eine moderne 1-Zimmer-Wohnung mit Kücheninsel">
            <a:extLst>
              <a:ext uri="{FF2B5EF4-FFF2-40B4-BE49-F238E27FC236}">
                <a16:creationId xmlns:a16="http://schemas.microsoft.com/office/drawing/2014/main" id="{7AC1E7A2-BC8F-8D4E-769E-799E3048F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479" y="1763520"/>
            <a:ext cx="4155181" cy="37228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CBEA23C-4F42-D46C-F43E-564079020C9A}"/>
              </a:ext>
            </a:extLst>
          </p:cNvPr>
          <p:cNvSpPr/>
          <p:nvPr/>
        </p:nvSpPr>
        <p:spPr>
          <a:xfrm>
            <a:off x="8938874" y="3085397"/>
            <a:ext cx="319752" cy="280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53ACEC-711E-51AD-34FB-040C232995CF}"/>
              </a:ext>
            </a:extLst>
          </p:cNvPr>
          <p:cNvSpPr/>
          <p:nvPr/>
        </p:nvSpPr>
        <p:spPr>
          <a:xfrm>
            <a:off x="9734338" y="4738883"/>
            <a:ext cx="303613" cy="321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/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6BE84C-7F91-9BC1-634B-92DE261A7482}"/>
              </a:ext>
            </a:extLst>
          </p:cNvPr>
          <p:cNvSpPr/>
          <p:nvPr/>
        </p:nvSpPr>
        <p:spPr>
          <a:xfrm>
            <a:off x="7733217" y="4642060"/>
            <a:ext cx="271924" cy="334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/>
              <a:t>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A90445E-7928-37E8-017B-4AA0333A72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83" t="19151" r="16497"/>
          <a:stretch>
            <a:fillRect/>
          </a:stretch>
        </p:blipFill>
        <p:spPr>
          <a:xfrm>
            <a:off x="8432698" y="271622"/>
            <a:ext cx="1301229" cy="21155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6A1F025-D73C-6194-DAA6-D533CA4CD8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67" t="18887" r="11098" b="199"/>
          <a:stretch>
            <a:fillRect/>
          </a:stretch>
        </p:blipFill>
        <p:spPr>
          <a:xfrm>
            <a:off x="5768548" y="3594896"/>
            <a:ext cx="1600694" cy="22952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DB81811-81B7-8928-3163-199C5E95D5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155" r="13019" b="119"/>
          <a:stretch>
            <a:fillRect/>
          </a:stretch>
        </p:blipFill>
        <p:spPr>
          <a:xfrm>
            <a:off x="10371651" y="4216937"/>
            <a:ext cx="1683006" cy="2372634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A6C8751-CF50-3C46-8E04-B765FBE56797}"/>
              </a:ext>
            </a:extLst>
          </p:cNvPr>
          <p:cNvCxnSpPr/>
          <p:nvPr/>
        </p:nvCxnSpPr>
        <p:spPr>
          <a:xfrm flipH="1" flipV="1">
            <a:off x="9101310" y="2540268"/>
            <a:ext cx="8" cy="5094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061F4B8-DBE2-392D-2DFD-396F8E060703}"/>
              </a:ext>
            </a:extLst>
          </p:cNvPr>
          <p:cNvCxnSpPr>
            <a:cxnSpLocks/>
          </p:cNvCxnSpPr>
          <p:nvPr/>
        </p:nvCxnSpPr>
        <p:spPr>
          <a:xfrm>
            <a:off x="10088808" y="4962523"/>
            <a:ext cx="248807" cy="1281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16C3BA-35D6-EE81-DE22-CEB62203B9D2}"/>
              </a:ext>
            </a:extLst>
          </p:cNvPr>
          <p:cNvCxnSpPr>
            <a:cxnSpLocks/>
          </p:cNvCxnSpPr>
          <p:nvPr/>
        </p:nvCxnSpPr>
        <p:spPr>
          <a:xfrm flipH="1" flipV="1">
            <a:off x="7452902" y="4437492"/>
            <a:ext cx="342131" cy="28398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523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B7D7B-3FDF-2C7B-A4E3-1DD94151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ürfel und Stifte bei einem Brettspiel">
            <a:extLst>
              <a:ext uri="{FF2B5EF4-FFF2-40B4-BE49-F238E27FC236}">
                <a16:creationId xmlns:a16="http://schemas.microsoft.com/office/drawing/2014/main" id="{447BDDCA-859C-C88D-6017-019C276CDF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1219" r="9091" b="1886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5CC6CB4-BD54-5AA9-5D4E-0F7DD9C85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de-AT" sz="6000" dirty="0" err="1">
                <a:solidFill>
                  <a:srgbClr val="FFFFFF"/>
                </a:solidFill>
              </a:rPr>
              <a:t>Thank</a:t>
            </a:r>
            <a:r>
              <a:rPr lang="de-AT" sz="6000" dirty="0">
                <a:solidFill>
                  <a:srgbClr val="FFFFFF"/>
                </a:solidFill>
              </a:rPr>
              <a:t> </a:t>
            </a:r>
            <a:r>
              <a:rPr lang="de-AT" sz="6000" dirty="0" err="1">
                <a:solidFill>
                  <a:srgbClr val="FFFFFF"/>
                </a:solidFill>
              </a:rPr>
              <a:t>you</a:t>
            </a:r>
            <a:r>
              <a:rPr lang="de-AT" sz="6000" dirty="0">
                <a:solidFill>
                  <a:srgbClr val="FFFFFF"/>
                </a:solidFill>
              </a:rPr>
              <a:t> </a:t>
            </a:r>
            <a:r>
              <a:rPr lang="de-AT" sz="6000" dirty="0" err="1">
                <a:solidFill>
                  <a:srgbClr val="FFFFFF"/>
                </a:solidFill>
              </a:rPr>
              <a:t>for</a:t>
            </a:r>
            <a:r>
              <a:rPr lang="de-AT" sz="6000" dirty="0">
                <a:solidFill>
                  <a:srgbClr val="FFFFFF"/>
                </a:solidFill>
              </a:rPr>
              <a:t> </a:t>
            </a:r>
            <a:r>
              <a:rPr lang="de-AT" sz="6000" dirty="0" err="1">
                <a:solidFill>
                  <a:srgbClr val="FFFFFF"/>
                </a:solidFill>
              </a:rPr>
              <a:t>your</a:t>
            </a:r>
            <a:r>
              <a:rPr lang="de-AT" sz="6000" dirty="0">
                <a:solidFill>
                  <a:srgbClr val="FFFFFF"/>
                </a:solidFill>
              </a:rPr>
              <a:t> </a:t>
            </a:r>
            <a:r>
              <a:rPr lang="de-AT" sz="6000" dirty="0" err="1">
                <a:solidFill>
                  <a:srgbClr val="FFFFFF"/>
                </a:solidFill>
              </a:rPr>
              <a:t>attention</a:t>
            </a:r>
            <a:r>
              <a:rPr lang="de-AT" sz="6000" dirty="0">
                <a:solidFill>
                  <a:srgbClr val="FFFFFF"/>
                </a:solidFill>
              </a:rPr>
              <a:t>!</a:t>
            </a:r>
            <a:br>
              <a:rPr lang="de-AT" sz="6000" dirty="0">
                <a:solidFill>
                  <a:srgbClr val="FFFFFF"/>
                </a:solidFill>
              </a:rPr>
            </a:br>
            <a:r>
              <a:rPr lang="de-AT" sz="6000" dirty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2EBC53D-C347-FF31-0485-C9203F5D8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endParaRPr lang="de-AT" dirty="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3442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Breitbild</PresentationFormat>
  <Paragraphs>18</Paragraphs>
  <Slides>4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Grandview Display</vt:lpstr>
      <vt:lpstr>Univers</vt:lpstr>
      <vt:lpstr>DashVTI</vt:lpstr>
      <vt:lpstr>AR Escape Game</vt:lpstr>
      <vt:lpstr>Current Status</vt:lpstr>
      <vt:lpstr>Next Steps </vt:lpstr>
      <vt:lpstr>Thank you for your attention!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Pareiss</dc:creator>
  <cp:lastModifiedBy>Sebastian Pareiss</cp:lastModifiedBy>
  <cp:revision>6</cp:revision>
  <dcterms:created xsi:type="dcterms:W3CDTF">2025-12-05T11:16:31Z</dcterms:created>
  <dcterms:modified xsi:type="dcterms:W3CDTF">2025-12-10T09:52:25Z</dcterms:modified>
</cp:coreProperties>
</file>